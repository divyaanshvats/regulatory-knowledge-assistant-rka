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Petrona Light"/>
      <p:regular r:id="rId18"/>
      <p:bold r:id="rId19"/>
      <p:italic r:id="rId20"/>
      <p:boldItalic r:id="rId21"/>
    </p:embeddedFont>
    <p:embeddedFont>
      <p:font typeface="Petrona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Light-italic.fntdata"/><Relationship Id="rId11" Type="http://schemas.openxmlformats.org/officeDocument/2006/relationships/slide" Target="slides/slide5.xml"/><Relationship Id="rId22" Type="http://schemas.openxmlformats.org/officeDocument/2006/relationships/font" Target="fonts/Petrona-bold.fntdata"/><Relationship Id="rId10" Type="http://schemas.openxmlformats.org/officeDocument/2006/relationships/slide" Target="slides/slide4.xml"/><Relationship Id="rId21" Type="http://schemas.openxmlformats.org/officeDocument/2006/relationships/font" Target="fonts/Petrona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Petron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PetronaLigh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etrona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f9961d80_2_34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cff9961d80_2_34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7" name="Google Shape;87;g3cff9961d80_2_34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ff9961d80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cff9961d80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6" name="Google Shape;96;g3cff9961d80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ff9961d80_2_55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cff9961d80_2_55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" name="Google Shape;110;g3cff9961d80_2_55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ff9961d80_2_85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cff9961d80_2_85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2" name="Google Shape;142;g3cff9961d80_2_85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ff9961d80_2_104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ff9961d80_2_104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3" name="Google Shape;163;g3cff9961d80_2_104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ff9961d80_2_14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cff9961d80_2_14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1" name="Google Shape;201;g3cff9961d80_2_14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ff9961d80_2_165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cff9961d80_2_165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28" name="Google Shape;228;g3cff9961d80_2_165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egulatory-knowledge-assistant-rka-q2q7paevuqr2lqvakz7hx9.streamlit.app/" TargetMode="External"/><Relationship Id="rId4" Type="http://schemas.openxmlformats.org/officeDocument/2006/relationships/hyperlink" Target="https://github.com/Divyaanshvats/Regulatory-Knowledge-Assistant-RKA" TargetMode="External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3"/>
          <p:cNvSpPr/>
          <p:nvPr/>
        </p:nvSpPr>
        <p:spPr>
          <a:xfrm>
            <a:off x="496119" y="1240111"/>
            <a:ext cx="4722763" cy="930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900"/>
              <a:buFont typeface="Petrona"/>
              <a:buNone/>
            </a:pPr>
            <a:r>
              <a:rPr b="1" i="0" lang="en" sz="29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Regulatory Knowledge Assistant</a:t>
            </a:r>
            <a:endParaRPr b="0" i="0" sz="2900" u="none" cap="none" strike="noStrike"/>
          </a:p>
        </p:txBody>
      </p:sp>
      <p:sp>
        <p:nvSpPr>
          <p:cNvPr id="91" name="Google Shape;91;p23"/>
          <p:cNvSpPr/>
          <p:nvPr/>
        </p:nvSpPr>
        <p:spPr>
          <a:xfrm>
            <a:off x="496119" y="2383036"/>
            <a:ext cx="4722763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An AI-powered compliance assistant designed for NeoStats AI engineers. This domain-specific RAG system retrieves critical regulatory knowledge from HR policies, labor laws, and RBI guidelines transforming complex compliance documentation into actionable insights.</a:t>
            </a:r>
            <a:endParaRPr b="0" i="0" sz="1100" u="none" cap="none" strike="noStrike"/>
          </a:p>
        </p:txBody>
      </p:sp>
      <p:sp>
        <p:nvSpPr>
          <p:cNvPr id="92" name="Google Shape;92;p23"/>
          <p:cNvSpPr/>
          <p:nvPr/>
        </p:nvSpPr>
        <p:spPr>
          <a:xfrm>
            <a:off x="496125" y="3729700"/>
            <a:ext cx="4722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Developed by:</a:t>
            </a: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Divyaansh Vats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/>
          <p:nvPr/>
        </p:nvSpPr>
        <p:spPr>
          <a:xfrm>
            <a:off x="496119" y="441201"/>
            <a:ext cx="3889102" cy="395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00"/>
              <a:buFont typeface="Petrona"/>
              <a:buNone/>
            </a:pPr>
            <a:r>
              <a:rPr b="1" i="0" lang="en" sz="25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The Compliance Challenge</a:t>
            </a:r>
            <a:endParaRPr b="0" i="0" sz="2500" u="none" cap="none" strike="noStrike"/>
          </a:p>
        </p:txBody>
      </p:sp>
      <p:pic>
        <p:nvPicPr>
          <p:cNvPr descr="preencoded.png" id="99" name="Google Shape;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1372437"/>
            <a:ext cx="4416325" cy="2327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4"/>
          <p:cNvSpPr/>
          <p:nvPr/>
        </p:nvSpPr>
        <p:spPr>
          <a:xfrm>
            <a:off x="5940500" y="1036075"/>
            <a:ext cx="2712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Organizations face mounting pressure to navigate increasingly complex regulatory landscapes. Traditional document search methods prove inadequate for modern compliance requirements.</a:t>
            </a:r>
            <a:endParaRPr b="0" i="0" sz="900" u="none" cap="none" strike="noStrike"/>
          </a:p>
        </p:txBody>
      </p:sp>
      <p:sp>
        <p:nvSpPr>
          <p:cNvPr id="101" name="Google Shape;101;p24"/>
          <p:cNvSpPr/>
          <p:nvPr/>
        </p:nvSpPr>
        <p:spPr>
          <a:xfrm>
            <a:off x="5990555" y="2076153"/>
            <a:ext cx="1581522" cy="197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Key Pain Points</a:t>
            </a:r>
            <a:endParaRPr b="0" i="0" sz="1200" u="none" cap="none" strike="noStrike"/>
          </a:p>
        </p:txBody>
      </p:sp>
      <p:sp>
        <p:nvSpPr>
          <p:cNvPr id="102" name="Google Shape;102;p24"/>
          <p:cNvSpPr/>
          <p:nvPr/>
        </p:nvSpPr>
        <p:spPr>
          <a:xfrm>
            <a:off x="5990555" y="2376190"/>
            <a:ext cx="2662014" cy="1533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9550" lvl="0" marL="215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Char char="•"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HR policies, labor laws, and banking regulations span hundreds of pages</a:t>
            </a:r>
            <a:endParaRPr b="0" i="0" sz="900" u="none" cap="none" strike="noStrike"/>
          </a:p>
          <a:p>
            <a:pPr indent="-209550" lvl="0" marL="215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Char char="•"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Employees waste hours searching through lengthy documents</a:t>
            </a:r>
            <a:endParaRPr b="0" i="0" sz="900" u="none" cap="none" strike="noStrike"/>
          </a:p>
          <a:p>
            <a:pPr indent="-209550" lvl="0" marL="215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Char char="•"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Difficulty retrieving precise answers to specific compliance questions</a:t>
            </a:r>
            <a:endParaRPr b="0" i="0" sz="900" u="none" cap="none" strike="noStrike"/>
          </a:p>
          <a:p>
            <a:pPr indent="-209550" lvl="0" marL="215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Char char="•"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High risk of misinterpretation in time-sensitive situations</a:t>
            </a:r>
            <a:endParaRPr b="0" i="0" sz="900" u="none" cap="none" strike="noStrike"/>
          </a:p>
        </p:txBody>
      </p:sp>
      <p:sp>
        <p:nvSpPr>
          <p:cNvPr id="103" name="Google Shape;103;p24"/>
          <p:cNvSpPr/>
          <p:nvPr/>
        </p:nvSpPr>
        <p:spPr>
          <a:xfrm>
            <a:off x="496119" y="4060924"/>
            <a:ext cx="8151763" cy="641375"/>
          </a:xfrm>
          <a:prstGeom prst="roundRect">
            <a:avLst>
              <a:gd fmla="val 7891" name="adj"/>
            </a:avLst>
          </a:prstGeom>
          <a:solidFill>
            <a:srgbClr val="1C113B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595" y="4239369"/>
            <a:ext cx="150614" cy="12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/>
          <p:nvPr/>
        </p:nvSpPr>
        <p:spPr>
          <a:xfrm>
            <a:off x="885836" y="4203269"/>
            <a:ext cx="7639800" cy="356700"/>
          </a:xfrm>
          <a:prstGeom prst="rect">
            <a:avLst/>
          </a:prstGeom>
          <a:solidFill>
            <a:srgbClr val="1C113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"What is the gratuity rule after 5 years?"—a question that requires sifting through multiple policy documents and legal frameworks.</a:t>
            </a:r>
            <a:endParaRPr b="0" i="0" sz="900" u="none" cap="none" strike="noStrike"/>
          </a:p>
        </p:txBody>
      </p:sp>
      <p:sp>
        <p:nvSpPr>
          <p:cNvPr id="106" name="Google Shape;106;p24"/>
          <p:cNvSpPr/>
          <p:nvPr/>
        </p:nvSpPr>
        <p:spPr>
          <a:xfrm>
            <a:off x="8006775" y="4784625"/>
            <a:ext cx="1087200" cy="312600"/>
          </a:xfrm>
          <a:prstGeom prst="rect">
            <a:avLst/>
          </a:prstGeom>
          <a:solidFill>
            <a:srgbClr val="0F082A"/>
          </a:solidFill>
          <a:ln cap="flat" cmpd="sng" w="9525">
            <a:solidFill>
              <a:srgbClr val="0F082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/>
          <p:nvPr/>
        </p:nvSpPr>
        <p:spPr>
          <a:xfrm>
            <a:off x="477589" y="402059"/>
            <a:ext cx="3602757" cy="402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500"/>
              <a:buFont typeface="Petrona"/>
              <a:buNone/>
            </a:pPr>
            <a:r>
              <a:rPr b="1" i="0" lang="en" sz="25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Intelligent RAG Solution</a:t>
            </a:r>
            <a:endParaRPr b="0" i="0" sz="2500" u="none" cap="none" strike="noStrike"/>
          </a:p>
        </p:txBody>
      </p:sp>
      <p:sp>
        <p:nvSpPr>
          <p:cNvPr id="113" name="Google Shape;113;p25"/>
          <p:cNvSpPr/>
          <p:nvPr/>
        </p:nvSpPr>
        <p:spPr>
          <a:xfrm>
            <a:off x="477589" y="1017761"/>
            <a:ext cx="8188821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 Retrieval-Augmented Generation (RAG) chatbot that combines document retrieval with AI-powered answer generation for regulatory compliance.</a:t>
            </a:r>
            <a:endParaRPr b="0" i="0" sz="900" u="none" cap="none" strike="noStrike"/>
          </a:p>
        </p:txBody>
      </p:sp>
      <p:sp>
        <p:nvSpPr>
          <p:cNvPr id="114" name="Google Shape;114;p25"/>
          <p:cNvSpPr/>
          <p:nvPr/>
        </p:nvSpPr>
        <p:spPr>
          <a:xfrm>
            <a:off x="477589" y="1503983"/>
            <a:ext cx="122783" cy="15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01</a:t>
            </a:r>
            <a:endParaRPr b="0" i="0" sz="900" u="none" cap="none" strike="noStrike"/>
          </a:p>
        </p:txBody>
      </p:sp>
      <p:pic>
        <p:nvPicPr>
          <p:cNvPr descr="preencoded.png" id="115" name="Google Shape;1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9" y="1698427"/>
            <a:ext cx="4041204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"/>
          <p:cNvSpPr/>
          <p:nvPr/>
        </p:nvSpPr>
        <p:spPr>
          <a:xfrm>
            <a:off x="477589" y="1788393"/>
            <a:ext cx="1611883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Document Ingestion</a:t>
            </a:r>
            <a:endParaRPr b="0" i="0" sz="1300" u="none" cap="none" strike="noStrike"/>
          </a:p>
        </p:txBody>
      </p:sp>
      <p:sp>
        <p:nvSpPr>
          <p:cNvPr id="117" name="Google Shape;117;p25"/>
          <p:cNvSpPr/>
          <p:nvPr/>
        </p:nvSpPr>
        <p:spPr>
          <a:xfrm>
            <a:off x="477589" y="2053605"/>
            <a:ext cx="4041204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Load regulatory documents including labor laws, RBI guidelines, and HR policies into the system</a:t>
            </a:r>
            <a:endParaRPr b="0" i="0" sz="900" u="none" cap="none" strike="noStrike"/>
          </a:p>
        </p:txBody>
      </p:sp>
      <p:sp>
        <p:nvSpPr>
          <p:cNvPr id="118" name="Google Shape;118;p25"/>
          <p:cNvSpPr/>
          <p:nvPr/>
        </p:nvSpPr>
        <p:spPr>
          <a:xfrm>
            <a:off x="4625108" y="1503970"/>
            <a:ext cx="4212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02</a:t>
            </a:r>
            <a:endParaRPr b="0" i="0" sz="900" u="none" cap="none" strike="noStrike"/>
          </a:p>
        </p:txBody>
      </p:sp>
      <p:pic>
        <p:nvPicPr>
          <p:cNvPr descr="preencoded.png" id="119" name="Google Shape;1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132" y="1698427"/>
            <a:ext cx="404127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5"/>
          <p:cNvSpPr/>
          <p:nvPr/>
        </p:nvSpPr>
        <p:spPr>
          <a:xfrm>
            <a:off x="4625116" y="1788412"/>
            <a:ext cx="3920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Embedding Generation</a:t>
            </a:r>
            <a:endParaRPr b="0" i="0" sz="1300" u="none" cap="none" strike="noStrike"/>
          </a:p>
        </p:txBody>
      </p:sp>
      <p:sp>
        <p:nvSpPr>
          <p:cNvPr id="121" name="Google Shape;121;p25"/>
          <p:cNvSpPr/>
          <p:nvPr/>
        </p:nvSpPr>
        <p:spPr>
          <a:xfrm>
            <a:off x="4625132" y="2053605"/>
            <a:ext cx="4041279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Convert documents into numerical embeddings using </a:t>
            </a:r>
            <a:r>
              <a:rPr lang="en" sz="9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Sentence Transformer</a:t>
            </a: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models</a:t>
            </a:r>
            <a:endParaRPr b="0" i="0" sz="900" u="none" cap="none" strike="noStrike"/>
          </a:p>
        </p:txBody>
      </p:sp>
      <p:sp>
        <p:nvSpPr>
          <p:cNvPr id="122" name="Google Shape;122;p25"/>
          <p:cNvSpPr/>
          <p:nvPr/>
        </p:nvSpPr>
        <p:spPr>
          <a:xfrm>
            <a:off x="477611" y="2618545"/>
            <a:ext cx="2532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03</a:t>
            </a:r>
            <a:endParaRPr b="0" i="0" sz="900" u="none" cap="none" strike="noStrike"/>
          </a:p>
        </p:txBody>
      </p:sp>
      <p:pic>
        <p:nvPicPr>
          <p:cNvPr descr="preencoded.png" id="123" name="Google Shape;1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9" y="2800722"/>
            <a:ext cx="4041204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/>
          <p:nvPr/>
        </p:nvSpPr>
        <p:spPr>
          <a:xfrm>
            <a:off x="477589" y="2902967"/>
            <a:ext cx="1611883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Vector Storage</a:t>
            </a:r>
            <a:endParaRPr b="0" i="0" sz="1300" u="none" cap="none" strike="noStrike"/>
          </a:p>
        </p:txBody>
      </p:sp>
      <p:sp>
        <p:nvSpPr>
          <p:cNvPr id="125" name="Google Shape;125;p25"/>
          <p:cNvSpPr/>
          <p:nvPr/>
        </p:nvSpPr>
        <p:spPr>
          <a:xfrm>
            <a:off x="477589" y="3168179"/>
            <a:ext cx="4041204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Store embeddings in FAISS vector database for efficient similarity search</a:t>
            </a:r>
            <a:endParaRPr b="0" i="0" sz="900" u="none" cap="none" strike="noStrike"/>
          </a:p>
        </p:txBody>
      </p:sp>
      <p:sp>
        <p:nvSpPr>
          <p:cNvPr id="126" name="Google Shape;126;p25"/>
          <p:cNvSpPr/>
          <p:nvPr/>
        </p:nvSpPr>
        <p:spPr>
          <a:xfrm>
            <a:off x="4625108" y="2618547"/>
            <a:ext cx="42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04</a:t>
            </a:r>
            <a:endParaRPr b="0" i="0" sz="900" u="none" cap="none" strike="noStrike"/>
          </a:p>
        </p:txBody>
      </p:sp>
      <p:pic>
        <p:nvPicPr>
          <p:cNvPr descr="preencoded.png" id="127" name="Google Shape;1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132" y="2800722"/>
            <a:ext cx="404127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/>
          <p:nvPr/>
        </p:nvSpPr>
        <p:spPr>
          <a:xfrm>
            <a:off x="4625132" y="2902967"/>
            <a:ext cx="1611883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Context Retrieval</a:t>
            </a:r>
            <a:endParaRPr b="0" i="0" sz="1300" u="none" cap="none" strike="noStrike"/>
          </a:p>
        </p:txBody>
      </p:sp>
      <p:sp>
        <p:nvSpPr>
          <p:cNvPr id="129" name="Google Shape;129;p25"/>
          <p:cNvSpPr/>
          <p:nvPr/>
        </p:nvSpPr>
        <p:spPr>
          <a:xfrm>
            <a:off x="4625132" y="3168179"/>
            <a:ext cx="4041279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Find relevant document sections when users ask compliance questions</a:t>
            </a:r>
            <a:endParaRPr b="0" i="0" sz="900" u="none" cap="none" strike="noStrike"/>
          </a:p>
        </p:txBody>
      </p:sp>
      <p:sp>
        <p:nvSpPr>
          <p:cNvPr id="130" name="Google Shape;130;p25"/>
          <p:cNvSpPr/>
          <p:nvPr/>
        </p:nvSpPr>
        <p:spPr>
          <a:xfrm>
            <a:off x="477616" y="3733121"/>
            <a:ext cx="311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05</a:t>
            </a:r>
            <a:endParaRPr b="0" i="0" sz="900" u="none" cap="none" strike="noStrike"/>
          </a:p>
        </p:txBody>
      </p:sp>
      <p:pic>
        <p:nvPicPr>
          <p:cNvPr descr="preencoded.png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9" y="3903018"/>
            <a:ext cx="4041204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477589" y="4017541"/>
            <a:ext cx="1611883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Answer Generation</a:t>
            </a:r>
            <a:endParaRPr b="0" i="0" sz="1300" u="none" cap="none" strike="noStrike"/>
          </a:p>
        </p:txBody>
      </p:sp>
      <p:sp>
        <p:nvSpPr>
          <p:cNvPr id="133" name="Google Shape;133;p25"/>
          <p:cNvSpPr/>
          <p:nvPr/>
        </p:nvSpPr>
        <p:spPr>
          <a:xfrm>
            <a:off x="477589" y="4282752"/>
            <a:ext cx="4041204" cy="183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Use Groq LLM to generate accurate, context-aware responses</a:t>
            </a:r>
            <a:endParaRPr b="0" i="0" sz="900" u="none" cap="none" strike="noStrike"/>
          </a:p>
        </p:txBody>
      </p:sp>
      <p:sp>
        <p:nvSpPr>
          <p:cNvPr id="134" name="Google Shape;134;p25"/>
          <p:cNvSpPr/>
          <p:nvPr/>
        </p:nvSpPr>
        <p:spPr>
          <a:xfrm>
            <a:off x="4625111" y="3733123"/>
            <a:ext cx="37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Petrona Light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Petrona Light"/>
                <a:ea typeface="Petrona Light"/>
                <a:cs typeface="Petrona Light"/>
                <a:sym typeface="Petrona Light"/>
              </a:rPr>
              <a:t>06</a:t>
            </a:r>
            <a:endParaRPr b="0" i="0" sz="900" u="none" cap="none" strike="noStrike"/>
          </a:p>
        </p:txBody>
      </p:sp>
      <p:pic>
        <p:nvPicPr>
          <p:cNvPr descr="preencoded.png"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5132" y="3903018"/>
            <a:ext cx="4041279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/>
          <p:nvPr/>
        </p:nvSpPr>
        <p:spPr>
          <a:xfrm>
            <a:off x="4625132" y="4017541"/>
            <a:ext cx="1611883" cy="2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Web Search Fallback</a:t>
            </a:r>
            <a:endParaRPr b="0" i="0" sz="1300" u="none" cap="none" strike="noStrike"/>
          </a:p>
        </p:txBody>
      </p:sp>
      <p:sp>
        <p:nvSpPr>
          <p:cNvPr id="137" name="Google Shape;137;p25"/>
          <p:cNvSpPr/>
          <p:nvPr/>
        </p:nvSpPr>
        <p:spPr>
          <a:xfrm>
            <a:off x="4625132" y="4282752"/>
            <a:ext cx="4041279" cy="366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Perform web search via Tavily when documents lack sufficient information</a:t>
            </a:r>
            <a:endParaRPr b="0" i="0" sz="900" u="none" cap="none" strike="noStrike"/>
          </a:p>
        </p:txBody>
      </p:sp>
      <p:sp>
        <p:nvSpPr>
          <p:cNvPr id="138" name="Google Shape;138;p25"/>
          <p:cNvSpPr/>
          <p:nvPr/>
        </p:nvSpPr>
        <p:spPr>
          <a:xfrm>
            <a:off x="8039875" y="4816925"/>
            <a:ext cx="1049700" cy="284400"/>
          </a:xfrm>
          <a:prstGeom prst="rect">
            <a:avLst/>
          </a:prstGeom>
          <a:solidFill>
            <a:srgbClr val="0F082A"/>
          </a:solidFill>
          <a:ln cap="flat" cmpd="sng" w="9525">
            <a:solidFill>
              <a:srgbClr val="0F0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496119" y="408161"/>
            <a:ext cx="3349228" cy="41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600"/>
              <a:buFont typeface="Petrona"/>
              <a:buNone/>
            </a:pPr>
            <a:r>
              <a:rPr b="1" i="0" lang="en" sz="26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System Architecture</a:t>
            </a:r>
            <a:endParaRPr b="0" i="0" sz="2600" u="none" cap="none" strike="noStrike"/>
          </a:p>
        </p:txBody>
      </p:sp>
      <p:pic>
        <p:nvPicPr>
          <p:cNvPr descr="preencoded.png" id="145" name="Google Shape;1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056456"/>
            <a:ext cx="637952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/>
          <p:nvPr/>
        </p:nvSpPr>
        <p:spPr>
          <a:xfrm>
            <a:off x="1248891" y="1184002"/>
            <a:ext cx="1674614" cy="209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User Question</a:t>
            </a:r>
            <a:endParaRPr b="0" i="0" sz="1300" u="none" cap="none" strike="noStrike"/>
          </a:p>
        </p:txBody>
      </p:sp>
      <p:sp>
        <p:nvSpPr>
          <p:cNvPr id="147" name="Google Shape;147;p26"/>
          <p:cNvSpPr/>
          <p:nvPr/>
        </p:nvSpPr>
        <p:spPr>
          <a:xfrm>
            <a:off x="1248891" y="1462088"/>
            <a:ext cx="7398990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Query submitted through Streamlit interface</a:t>
            </a:r>
            <a:endParaRPr b="0" i="0" sz="1000" u="none" cap="none" strike="noStrike"/>
          </a:p>
        </p:txBody>
      </p:sp>
      <p:pic>
        <p:nvPicPr>
          <p:cNvPr descr="preencoded.png" id="148" name="Google Shape;1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821954"/>
            <a:ext cx="637952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1248891" y="1949499"/>
            <a:ext cx="1674614" cy="20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Query Embedding</a:t>
            </a:r>
            <a:endParaRPr b="0" i="0" sz="1300" u="none" cap="none" strike="noStrike"/>
          </a:p>
        </p:txBody>
      </p:sp>
      <p:sp>
        <p:nvSpPr>
          <p:cNvPr id="150" name="Google Shape;150;p26"/>
          <p:cNvSpPr/>
          <p:nvPr/>
        </p:nvSpPr>
        <p:spPr>
          <a:xfrm>
            <a:off x="1248891" y="2227585"/>
            <a:ext cx="7398990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Convert question to vector representation</a:t>
            </a:r>
            <a:endParaRPr b="0" i="0" sz="1000" u="none" cap="none" strike="noStrike"/>
          </a:p>
        </p:txBody>
      </p:sp>
      <p:pic>
        <p:nvPicPr>
          <p:cNvPr descr="preencoded.png" id="151" name="Google Shape;15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587451"/>
            <a:ext cx="637952" cy="76549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/>
          <p:nvPr/>
        </p:nvSpPr>
        <p:spPr>
          <a:xfrm>
            <a:off x="1248891" y="2714997"/>
            <a:ext cx="1793081" cy="20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Vector Database Search</a:t>
            </a:r>
            <a:endParaRPr b="0" i="0" sz="1300" u="none" cap="none" strike="noStrike"/>
          </a:p>
        </p:txBody>
      </p:sp>
      <p:sp>
        <p:nvSpPr>
          <p:cNvPr id="153" name="Google Shape;153;p26"/>
          <p:cNvSpPr/>
          <p:nvPr/>
        </p:nvSpPr>
        <p:spPr>
          <a:xfrm>
            <a:off x="1248891" y="2993082"/>
            <a:ext cx="7398990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FAISS searches for relevant document chunks</a:t>
            </a:r>
            <a:endParaRPr b="0" i="0" sz="1000" u="none" cap="none" strike="noStrike"/>
          </a:p>
        </p:txBody>
      </p:sp>
      <p:sp>
        <p:nvSpPr>
          <p:cNvPr id="154" name="Google Shape;154;p26"/>
          <p:cNvSpPr/>
          <p:nvPr/>
        </p:nvSpPr>
        <p:spPr>
          <a:xfrm>
            <a:off x="496119" y="3596952"/>
            <a:ext cx="1892648" cy="20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When Documents Found</a:t>
            </a:r>
            <a:endParaRPr b="0" i="0" sz="1300" u="none" cap="none" strike="noStrike"/>
          </a:p>
        </p:txBody>
      </p:sp>
      <p:sp>
        <p:nvSpPr>
          <p:cNvPr id="155" name="Google Shape;155;p26"/>
          <p:cNvSpPr/>
          <p:nvPr/>
        </p:nvSpPr>
        <p:spPr>
          <a:xfrm>
            <a:off x="496119" y="3921026"/>
            <a:ext cx="3920282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Relevant context sent to LLM for answer generation</a:t>
            </a:r>
            <a:endParaRPr b="0" i="0" sz="1000" u="none" cap="none" strike="noStrike"/>
          </a:p>
        </p:txBody>
      </p:sp>
      <p:sp>
        <p:nvSpPr>
          <p:cNvPr id="156" name="Google Shape;156;p26"/>
          <p:cNvSpPr/>
          <p:nvPr/>
        </p:nvSpPr>
        <p:spPr>
          <a:xfrm>
            <a:off x="4732363" y="3596952"/>
            <a:ext cx="2148855" cy="20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When No Documents Found</a:t>
            </a:r>
            <a:endParaRPr b="0" i="0" sz="1300" u="none" cap="none" strike="noStrike"/>
          </a:p>
        </p:txBody>
      </p:sp>
      <p:sp>
        <p:nvSpPr>
          <p:cNvPr id="157" name="Google Shape;157;p26"/>
          <p:cNvSpPr/>
          <p:nvPr/>
        </p:nvSpPr>
        <p:spPr>
          <a:xfrm>
            <a:off x="4732363" y="3921026"/>
            <a:ext cx="3920282" cy="19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Tavily web search performed, results sent to LLM</a:t>
            </a:r>
            <a:endParaRPr b="0" i="0" sz="1000" u="none" cap="none" strike="noStrike"/>
          </a:p>
        </p:txBody>
      </p:sp>
      <p:sp>
        <p:nvSpPr>
          <p:cNvPr id="158" name="Google Shape;158;p26"/>
          <p:cNvSpPr/>
          <p:nvPr/>
        </p:nvSpPr>
        <p:spPr>
          <a:xfrm>
            <a:off x="496119" y="4347418"/>
            <a:ext cx="8151763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LLM synthesizes retrieved context and generates a comprehensive final answer, combining document knowledge with real-time web information when necessary.</a:t>
            </a:r>
            <a:endParaRPr b="0" i="0" sz="1000" u="none" cap="none" strike="noStrike"/>
          </a:p>
        </p:txBody>
      </p:sp>
      <p:sp>
        <p:nvSpPr>
          <p:cNvPr id="159" name="Google Shape;159;p26"/>
          <p:cNvSpPr/>
          <p:nvPr/>
        </p:nvSpPr>
        <p:spPr>
          <a:xfrm>
            <a:off x="8001000" y="4791650"/>
            <a:ext cx="1088700" cy="311100"/>
          </a:xfrm>
          <a:prstGeom prst="rect">
            <a:avLst/>
          </a:prstGeom>
          <a:solidFill>
            <a:srgbClr val="0D0627"/>
          </a:solidFill>
          <a:ln cap="flat" cmpd="sng" w="9525">
            <a:solidFill>
              <a:srgbClr val="0E07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494779" y="391344"/>
            <a:ext cx="3265512" cy="37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300"/>
              <a:buFont typeface="Petrona"/>
              <a:buNone/>
            </a:pPr>
            <a:r>
              <a:rPr b="1" i="0" lang="en" sz="23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Core Technical Features</a:t>
            </a:r>
            <a:endParaRPr b="0" i="0" sz="2300" u="none" cap="none" strike="noStrike"/>
          </a:p>
        </p:txBody>
      </p:sp>
      <p:sp>
        <p:nvSpPr>
          <p:cNvPr id="166" name="Google Shape;166;p27"/>
          <p:cNvSpPr/>
          <p:nvPr/>
        </p:nvSpPr>
        <p:spPr>
          <a:xfrm>
            <a:off x="494779" y="942901"/>
            <a:ext cx="4032126" cy="1229990"/>
          </a:xfrm>
          <a:prstGeom prst="roundRect">
            <a:avLst>
              <a:gd fmla="val 3862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576" y="1060698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892" y="115393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/>
          <p:nvPr/>
        </p:nvSpPr>
        <p:spPr>
          <a:xfrm>
            <a:off x="612576" y="1490142"/>
            <a:ext cx="1484412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RAG-Based Retrieval</a:t>
            </a:r>
            <a:endParaRPr b="0" i="0" sz="1200" u="none" cap="none" strike="noStrike"/>
          </a:p>
        </p:txBody>
      </p:sp>
      <p:sp>
        <p:nvSpPr>
          <p:cNvPr id="170" name="Google Shape;170;p27"/>
          <p:cNvSpPr/>
          <p:nvPr/>
        </p:nvSpPr>
        <p:spPr>
          <a:xfrm>
            <a:off x="612576" y="1729755"/>
            <a:ext cx="3796531" cy="325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Combines document search with generative AI for accurate compliance answers</a:t>
            </a:r>
            <a:endParaRPr b="0" i="0" sz="900" u="none" cap="none" strike="noStrike"/>
          </a:p>
        </p:txBody>
      </p:sp>
      <p:sp>
        <p:nvSpPr>
          <p:cNvPr id="171" name="Google Shape;171;p27"/>
          <p:cNvSpPr/>
          <p:nvPr/>
        </p:nvSpPr>
        <p:spPr>
          <a:xfrm>
            <a:off x="4617095" y="942901"/>
            <a:ext cx="4032126" cy="1229990"/>
          </a:xfrm>
          <a:prstGeom prst="roundRect">
            <a:avLst>
              <a:gd fmla="val 3862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4893" y="1060698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208" y="115393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/>
          <p:nvPr/>
        </p:nvSpPr>
        <p:spPr>
          <a:xfrm>
            <a:off x="4734904" y="1490159"/>
            <a:ext cx="24204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FAISS Vector Database</a:t>
            </a:r>
            <a:endParaRPr b="0" i="0" sz="1200" u="none" cap="none" strike="noStrike"/>
          </a:p>
        </p:txBody>
      </p:sp>
      <p:sp>
        <p:nvSpPr>
          <p:cNvPr id="175" name="Google Shape;175;p27"/>
          <p:cNvSpPr/>
          <p:nvPr/>
        </p:nvSpPr>
        <p:spPr>
          <a:xfrm>
            <a:off x="4734893" y="1729755"/>
            <a:ext cx="3796531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High-performance similarity search for fast document retrieval</a:t>
            </a:r>
            <a:endParaRPr b="0" i="0" sz="900" u="none" cap="none" strike="noStrike"/>
          </a:p>
        </p:txBody>
      </p:sp>
      <p:sp>
        <p:nvSpPr>
          <p:cNvPr id="176" name="Google Shape;176;p27"/>
          <p:cNvSpPr/>
          <p:nvPr/>
        </p:nvSpPr>
        <p:spPr>
          <a:xfrm>
            <a:off x="494779" y="2263081"/>
            <a:ext cx="4032126" cy="1067321"/>
          </a:xfrm>
          <a:prstGeom prst="roundRect">
            <a:avLst>
              <a:gd fmla="val 4451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576" y="2380878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892" y="247411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/>
          <p:nvPr/>
        </p:nvSpPr>
        <p:spPr>
          <a:xfrm>
            <a:off x="612574" y="2810328"/>
            <a:ext cx="2130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lang="en" sz="12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Sentence Transformer</a:t>
            </a:r>
            <a:endParaRPr b="0" i="0" sz="1200" u="none" cap="none" strike="noStrike"/>
          </a:p>
        </p:txBody>
      </p:sp>
      <p:sp>
        <p:nvSpPr>
          <p:cNvPr id="180" name="Google Shape;180;p27"/>
          <p:cNvSpPr/>
          <p:nvPr/>
        </p:nvSpPr>
        <p:spPr>
          <a:xfrm>
            <a:off x="612576" y="3049935"/>
            <a:ext cx="3796531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State-of-the-art embeddings for semantic document understanding</a:t>
            </a:r>
            <a:endParaRPr b="0" i="0" sz="900" u="none" cap="none" strike="noStrike"/>
          </a:p>
        </p:txBody>
      </p:sp>
      <p:sp>
        <p:nvSpPr>
          <p:cNvPr id="181" name="Google Shape;181;p27"/>
          <p:cNvSpPr/>
          <p:nvPr/>
        </p:nvSpPr>
        <p:spPr>
          <a:xfrm>
            <a:off x="4617095" y="2263081"/>
            <a:ext cx="4032126" cy="1067321"/>
          </a:xfrm>
          <a:prstGeom prst="roundRect">
            <a:avLst>
              <a:gd fmla="val 4451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4893" y="2380878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208" y="247411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/>
          <p:nvPr/>
        </p:nvSpPr>
        <p:spPr>
          <a:xfrm>
            <a:off x="4734905" y="2810332"/>
            <a:ext cx="2420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Groq LLM Integration</a:t>
            </a:r>
            <a:endParaRPr b="0" i="0" sz="1200" u="none" cap="none" strike="noStrike"/>
          </a:p>
        </p:txBody>
      </p:sp>
      <p:sp>
        <p:nvSpPr>
          <p:cNvPr id="185" name="Google Shape;185;p27"/>
          <p:cNvSpPr/>
          <p:nvPr/>
        </p:nvSpPr>
        <p:spPr>
          <a:xfrm>
            <a:off x="4734893" y="3049935"/>
            <a:ext cx="3796531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Fast, accurate answer generation with contextual awareness</a:t>
            </a:r>
            <a:endParaRPr b="0" i="0" sz="900" u="none" cap="none" strike="noStrike"/>
          </a:p>
        </p:txBody>
      </p:sp>
      <p:sp>
        <p:nvSpPr>
          <p:cNvPr id="186" name="Google Shape;186;p27"/>
          <p:cNvSpPr/>
          <p:nvPr/>
        </p:nvSpPr>
        <p:spPr>
          <a:xfrm>
            <a:off x="494779" y="3420591"/>
            <a:ext cx="4032126" cy="1067321"/>
          </a:xfrm>
          <a:prstGeom prst="roundRect">
            <a:avLst>
              <a:gd fmla="val 4451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576" y="3538389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892" y="363162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/>
          <p:nvPr/>
        </p:nvSpPr>
        <p:spPr>
          <a:xfrm>
            <a:off x="612576" y="3967833"/>
            <a:ext cx="1484412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Tavily Web Search</a:t>
            </a:r>
            <a:endParaRPr b="0" i="0" sz="1200" u="none" cap="none" strike="noStrike"/>
          </a:p>
        </p:txBody>
      </p:sp>
      <p:sp>
        <p:nvSpPr>
          <p:cNvPr id="190" name="Google Shape;190;p27"/>
          <p:cNvSpPr/>
          <p:nvPr/>
        </p:nvSpPr>
        <p:spPr>
          <a:xfrm>
            <a:off x="612576" y="4207446"/>
            <a:ext cx="3796531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Fallback mechanism for real-time regulatory information</a:t>
            </a:r>
            <a:endParaRPr b="0" i="0" sz="900" u="none" cap="none" strike="noStrike"/>
          </a:p>
        </p:txBody>
      </p:sp>
      <p:sp>
        <p:nvSpPr>
          <p:cNvPr id="191" name="Google Shape;191;p27"/>
          <p:cNvSpPr/>
          <p:nvPr/>
        </p:nvSpPr>
        <p:spPr>
          <a:xfrm>
            <a:off x="4617095" y="3420591"/>
            <a:ext cx="4032126" cy="1067321"/>
          </a:xfrm>
          <a:prstGeom prst="roundRect">
            <a:avLst>
              <a:gd fmla="val 4451" name="adj"/>
            </a:avLst>
          </a:prstGeom>
          <a:solidFill>
            <a:srgbClr val="2F1D63"/>
          </a:solidFill>
          <a:ln cap="flat" cmpd="sng" w="9525">
            <a:solidFill>
              <a:srgbClr val="4836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34893" y="3538389"/>
            <a:ext cx="339254" cy="339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208" y="3631629"/>
            <a:ext cx="152623" cy="15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/>
          <p:nvPr/>
        </p:nvSpPr>
        <p:spPr>
          <a:xfrm>
            <a:off x="4734893" y="3967833"/>
            <a:ext cx="1484412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Petrona"/>
              <a:buNone/>
            </a:pPr>
            <a:r>
              <a:rPr b="1" i="0" lang="en" sz="12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Streamlit Interface</a:t>
            </a:r>
            <a:endParaRPr b="0" i="0" sz="1200" u="none" cap="none" strike="noStrike"/>
          </a:p>
        </p:txBody>
      </p:sp>
      <p:sp>
        <p:nvSpPr>
          <p:cNvPr id="195" name="Google Shape;195;p27"/>
          <p:cNvSpPr/>
          <p:nvPr/>
        </p:nvSpPr>
        <p:spPr>
          <a:xfrm>
            <a:off x="4734893" y="4207446"/>
            <a:ext cx="3796531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Clean, intuitive web application for enterprise users</a:t>
            </a:r>
            <a:endParaRPr b="0" i="0" sz="900" u="none" cap="none" strike="noStrike"/>
          </a:p>
        </p:txBody>
      </p:sp>
      <p:sp>
        <p:nvSpPr>
          <p:cNvPr id="196" name="Google Shape;196;p27"/>
          <p:cNvSpPr/>
          <p:nvPr/>
        </p:nvSpPr>
        <p:spPr>
          <a:xfrm>
            <a:off x="494779" y="4589413"/>
            <a:ext cx="8154442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Users can choose between </a:t>
            </a:r>
            <a:r>
              <a:rPr b="1" i="0" lang="en" sz="900" u="none" cap="none" strike="noStrik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Concise</a:t>
            </a: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" sz="900" u="none" cap="none" strike="noStrike">
                <a:solidFill>
                  <a:srgbClr val="D783D8"/>
                </a:solidFill>
                <a:latin typeface="Inter"/>
                <a:ea typeface="Inter"/>
                <a:cs typeface="Inter"/>
                <a:sym typeface="Inter"/>
              </a:rPr>
              <a:t>Detailed</a:t>
            </a:r>
            <a:r>
              <a:rPr b="0" i="0" lang="en" sz="9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response modes based on their needs.</a:t>
            </a:r>
            <a:endParaRPr b="0" i="0" sz="900" u="none" cap="none" strike="noStrike"/>
          </a:p>
        </p:txBody>
      </p:sp>
      <p:sp>
        <p:nvSpPr>
          <p:cNvPr id="197" name="Google Shape;197;p27"/>
          <p:cNvSpPr/>
          <p:nvPr/>
        </p:nvSpPr>
        <p:spPr>
          <a:xfrm>
            <a:off x="8001000" y="4803325"/>
            <a:ext cx="1098300" cy="325500"/>
          </a:xfrm>
          <a:prstGeom prst="rect">
            <a:avLst/>
          </a:prstGeom>
          <a:solidFill>
            <a:srgbClr val="0D0626"/>
          </a:solidFill>
          <a:ln cap="flat" cmpd="sng" w="9525">
            <a:solidFill>
              <a:srgbClr val="0D0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/>
          <p:nvPr/>
        </p:nvSpPr>
        <p:spPr>
          <a:xfrm>
            <a:off x="496119" y="580057"/>
            <a:ext cx="4741292" cy="4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900"/>
              <a:buFont typeface="Petrona"/>
              <a:buNone/>
            </a:pPr>
            <a:r>
              <a:rPr b="1" i="0" lang="en" sz="29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Implementation Challenges</a:t>
            </a:r>
            <a:endParaRPr b="0" i="0" sz="2900" u="none" cap="none" strike="noStrike"/>
          </a:p>
        </p:txBody>
      </p:sp>
      <p:sp>
        <p:nvSpPr>
          <p:cNvPr id="204" name="Google Shape;204;p28"/>
          <p:cNvSpPr/>
          <p:nvPr/>
        </p:nvSpPr>
        <p:spPr>
          <a:xfrm>
            <a:off x="496119" y="1328737"/>
            <a:ext cx="2622724" cy="1546473"/>
          </a:xfrm>
          <a:prstGeom prst="roundRect">
            <a:avLst>
              <a:gd fmla="val 5913" name="adj"/>
            </a:avLst>
          </a:prstGeom>
          <a:solidFill>
            <a:srgbClr val="0C0524">
              <a:alpha val="94901"/>
            </a:srgbClr>
          </a:solidFill>
          <a:ln cap="flat" cmpd="sng" w="30475">
            <a:solidFill>
              <a:srgbClr val="876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477069" y="1328737"/>
            <a:ext cx="76200" cy="1546473"/>
          </a:xfrm>
          <a:prstGeom prst="roundRect">
            <a:avLst>
              <a:gd fmla="val 78139" name="adj"/>
            </a:avLst>
          </a:prstGeom>
          <a:solidFill>
            <a:srgbClr val="876CD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714077" y="1489546"/>
            <a:ext cx="186064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Petrona"/>
              <a:buNone/>
            </a:pPr>
            <a:r>
              <a:rPr b="1" i="0" lang="en" sz="14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Document Processing</a:t>
            </a:r>
            <a:endParaRPr b="0" i="0" sz="1400" u="none" cap="none" strike="noStrike"/>
          </a:p>
        </p:txBody>
      </p:sp>
      <p:sp>
        <p:nvSpPr>
          <p:cNvPr id="207" name="Google Shape;207;p28"/>
          <p:cNvSpPr/>
          <p:nvPr/>
        </p:nvSpPr>
        <p:spPr>
          <a:xfrm>
            <a:off x="714078" y="1807146"/>
            <a:ext cx="224395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Large regulatory PDFs required sophisticated parsing and text extraction techniques to handle complex formatting</a:t>
            </a:r>
            <a:endParaRPr b="0" i="0" sz="1100" u="none" cap="none" strike="noStrike"/>
          </a:p>
        </p:txBody>
      </p:sp>
      <p:sp>
        <p:nvSpPr>
          <p:cNvPr id="208" name="Google Shape;208;p28"/>
          <p:cNvSpPr/>
          <p:nvPr/>
        </p:nvSpPr>
        <p:spPr>
          <a:xfrm>
            <a:off x="3260601" y="1328737"/>
            <a:ext cx="2622724" cy="1546473"/>
          </a:xfrm>
          <a:prstGeom prst="roundRect">
            <a:avLst>
              <a:gd fmla="val 5913" name="adj"/>
            </a:avLst>
          </a:prstGeom>
          <a:solidFill>
            <a:srgbClr val="0C0524">
              <a:alpha val="94901"/>
            </a:srgbClr>
          </a:solidFill>
          <a:ln cap="flat" cmpd="sng" w="30475">
            <a:solidFill>
              <a:srgbClr val="D78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3241551" y="1328737"/>
            <a:ext cx="76200" cy="1546473"/>
          </a:xfrm>
          <a:prstGeom prst="roundRect">
            <a:avLst>
              <a:gd fmla="val 78139" name="adj"/>
            </a:avLst>
          </a:prstGeom>
          <a:solidFill>
            <a:srgbClr val="D783D8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3478560" y="1489546"/>
            <a:ext cx="186064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Petrona"/>
              <a:buNone/>
            </a:pPr>
            <a:r>
              <a:rPr b="1" i="0" lang="en" sz="14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Chunking Strategy</a:t>
            </a:r>
            <a:endParaRPr b="0" i="0" sz="1400" u="none" cap="none" strike="noStrike"/>
          </a:p>
        </p:txBody>
      </p:sp>
      <p:sp>
        <p:nvSpPr>
          <p:cNvPr id="211" name="Google Shape;211;p28"/>
          <p:cNvSpPr/>
          <p:nvPr/>
        </p:nvSpPr>
        <p:spPr>
          <a:xfrm>
            <a:off x="3478560" y="1807146"/>
            <a:ext cx="224395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Determining optimal document chunk size and overlap for efficient embedding generation while preserving context</a:t>
            </a:r>
            <a:endParaRPr b="0" i="0" sz="1100" u="none" cap="none" strike="noStrike"/>
          </a:p>
        </p:txBody>
      </p:sp>
      <p:sp>
        <p:nvSpPr>
          <p:cNvPr id="212" name="Google Shape;212;p28"/>
          <p:cNvSpPr/>
          <p:nvPr/>
        </p:nvSpPr>
        <p:spPr>
          <a:xfrm>
            <a:off x="6025083" y="1328737"/>
            <a:ext cx="2622724" cy="1546473"/>
          </a:xfrm>
          <a:prstGeom prst="roundRect">
            <a:avLst>
              <a:gd fmla="val 5913" name="adj"/>
            </a:avLst>
          </a:prstGeom>
          <a:solidFill>
            <a:srgbClr val="0C0524">
              <a:alpha val="94901"/>
            </a:srgbClr>
          </a:solidFill>
          <a:ln cap="flat" cmpd="sng" w="30475">
            <a:solidFill>
              <a:srgbClr val="FF90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6006033" y="1328737"/>
            <a:ext cx="76200" cy="1546473"/>
          </a:xfrm>
          <a:prstGeom prst="roundRect">
            <a:avLst>
              <a:gd fmla="val 78139" name="adj"/>
            </a:avLst>
          </a:prstGeom>
          <a:solidFill>
            <a:srgbClr val="FF90A5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6243043" y="1489546"/>
            <a:ext cx="186064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Petrona"/>
              <a:buNone/>
            </a:pPr>
            <a:r>
              <a:rPr b="1" i="0" lang="en" sz="14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Retrieval Accuracy</a:t>
            </a:r>
            <a:endParaRPr b="0" i="0" sz="1400" u="none" cap="none" strike="noStrike"/>
          </a:p>
        </p:txBody>
      </p:sp>
      <p:sp>
        <p:nvSpPr>
          <p:cNvPr id="215" name="Google Shape;215;p28"/>
          <p:cNvSpPr/>
          <p:nvPr/>
        </p:nvSpPr>
        <p:spPr>
          <a:xfrm>
            <a:off x="6243043" y="1807146"/>
            <a:ext cx="224395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Ensuring vector database returns relevant documents by tuning similarity thresholds and embedding quality</a:t>
            </a:r>
            <a:endParaRPr b="0" i="0" sz="1100" u="none" cap="none" strike="noStrike"/>
          </a:p>
        </p:txBody>
      </p:sp>
      <p:sp>
        <p:nvSpPr>
          <p:cNvPr id="216" name="Google Shape;216;p28"/>
          <p:cNvSpPr/>
          <p:nvPr/>
        </p:nvSpPr>
        <p:spPr>
          <a:xfrm>
            <a:off x="496119" y="3016969"/>
            <a:ext cx="2622724" cy="1546473"/>
          </a:xfrm>
          <a:prstGeom prst="roundRect">
            <a:avLst>
              <a:gd fmla="val 5913" name="adj"/>
            </a:avLst>
          </a:prstGeom>
          <a:solidFill>
            <a:srgbClr val="0C0524">
              <a:alpha val="94901"/>
            </a:srgbClr>
          </a:solidFill>
          <a:ln cap="flat" cmpd="sng" w="30475">
            <a:solidFill>
              <a:srgbClr val="FFB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477069" y="3016969"/>
            <a:ext cx="76200" cy="1546473"/>
          </a:xfrm>
          <a:prstGeom prst="roundRect">
            <a:avLst>
              <a:gd fmla="val 78139" name="adj"/>
            </a:avLst>
          </a:prstGeom>
          <a:solidFill>
            <a:srgbClr val="FFB07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714077" y="3177778"/>
            <a:ext cx="186064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Petrona"/>
              <a:buNone/>
            </a:pPr>
            <a:r>
              <a:rPr b="1" i="0" lang="en" sz="14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Search Fallback Logic</a:t>
            </a:r>
            <a:endParaRPr b="0" i="0" sz="1400" u="none" cap="none" strike="noStrike"/>
          </a:p>
        </p:txBody>
      </p:sp>
      <p:sp>
        <p:nvSpPr>
          <p:cNvPr id="219" name="Google Shape;219;p28"/>
          <p:cNvSpPr/>
          <p:nvPr/>
        </p:nvSpPr>
        <p:spPr>
          <a:xfrm>
            <a:off x="714078" y="3495378"/>
            <a:ext cx="224395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Implementing intelligent triggers to activate web search when document context proves insufficient</a:t>
            </a:r>
            <a:endParaRPr b="0" i="0" sz="1100" u="none" cap="none" strike="noStrike"/>
          </a:p>
        </p:txBody>
      </p:sp>
      <p:sp>
        <p:nvSpPr>
          <p:cNvPr id="220" name="Google Shape;220;p28"/>
          <p:cNvSpPr/>
          <p:nvPr/>
        </p:nvSpPr>
        <p:spPr>
          <a:xfrm>
            <a:off x="3260601" y="3016969"/>
            <a:ext cx="2622724" cy="1546473"/>
          </a:xfrm>
          <a:prstGeom prst="roundRect">
            <a:avLst>
              <a:gd fmla="val 5913" name="adj"/>
            </a:avLst>
          </a:prstGeom>
          <a:solidFill>
            <a:srgbClr val="0C0524">
              <a:alpha val="94901"/>
            </a:srgbClr>
          </a:solidFill>
          <a:ln cap="flat" cmpd="sng" w="30475">
            <a:solidFill>
              <a:srgbClr val="1408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3241551" y="3016969"/>
            <a:ext cx="76200" cy="1546473"/>
          </a:xfrm>
          <a:prstGeom prst="roundRect">
            <a:avLst>
              <a:gd fmla="val 78139" name="adj"/>
            </a:avLst>
          </a:prstGeom>
          <a:solidFill>
            <a:srgbClr val="14083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3478560" y="3177778"/>
            <a:ext cx="1860649" cy="23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00"/>
              <a:buFont typeface="Petrona"/>
              <a:buNone/>
            </a:pPr>
            <a:r>
              <a:rPr b="1" i="0" lang="en" sz="1400" u="none" cap="none" strike="noStrike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Response Quality</a:t>
            </a:r>
            <a:endParaRPr b="0" i="0" sz="1400" u="none" cap="none" strike="noStrike"/>
          </a:p>
        </p:txBody>
      </p:sp>
      <p:sp>
        <p:nvSpPr>
          <p:cNvPr id="223" name="Google Shape;223;p28"/>
          <p:cNvSpPr/>
          <p:nvPr/>
        </p:nvSpPr>
        <p:spPr>
          <a:xfrm>
            <a:off x="3478560" y="3495378"/>
            <a:ext cx="224395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Maintaining factual accuracy in LLM responses through prompt engineering and validation mechanisms</a:t>
            </a:r>
            <a:endParaRPr b="0" i="0" sz="1100" u="none" cap="none" strike="noStrike"/>
          </a:p>
        </p:txBody>
      </p:sp>
      <p:sp>
        <p:nvSpPr>
          <p:cNvPr id="224" name="Google Shape;224;p28"/>
          <p:cNvSpPr/>
          <p:nvPr/>
        </p:nvSpPr>
        <p:spPr>
          <a:xfrm>
            <a:off x="8030150" y="4814975"/>
            <a:ext cx="1059300" cy="282000"/>
          </a:xfrm>
          <a:prstGeom prst="rect">
            <a:avLst/>
          </a:prstGeom>
          <a:solidFill>
            <a:srgbClr val="0D0627"/>
          </a:solidFill>
          <a:ln cap="flat" cmpd="sng" w="9525">
            <a:solidFill>
              <a:srgbClr val="0D0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463153" y="363885"/>
            <a:ext cx="3474021" cy="434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700"/>
              <a:buFont typeface="Petrona"/>
              <a:buNone/>
            </a:pPr>
            <a:r>
              <a:rPr b="1" i="0" lang="en" sz="27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Live Deployment</a:t>
            </a:r>
            <a:endParaRPr b="0" i="0" sz="2700" u="none" cap="none" strike="noStrike"/>
          </a:p>
        </p:txBody>
      </p:sp>
      <p:sp>
        <p:nvSpPr>
          <p:cNvPr id="231" name="Google Shape;231;p29"/>
          <p:cNvSpPr/>
          <p:nvPr/>
        </p:nvSpPr>
        <p:spPr>
          <a:xfrm>
            <a:off x="463153" y="1635993"/>
            <a:ext cx="2084413" cy="260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600"/>
              <a:buFont typeface="Petrona"/>
              <a:buNone/>
            </a:pPr>
            <a:r>
              <a:rPr b="1" i="0" lang="en" sz="16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Application Access</a:t>
            </a:r>
            <a:endParaRPr b="0" i="0" sz="1600" u="none" cap="none" strike="noStrike"/>
          </a:p>
        </p:txBody>
      </p:sp>
      <p:sp>
        <p:nvSpPr>
          <p:cNvPr id="232" name="Google Shape;232;p29"/>
          <p:cNvSpPr/>
          <p:nvPr/>
        </p:nvSpPr>
        <p:spPr>
          <a:xfrm>
            <a:off x="463153" y="2020044"/>
            <a:ext cx="5228481" cy="40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Regulatory Knowledge Assistant is deployed and operational on Streamlit Cloud, providing real-time compliance support for NeoStats AI engineers.</a:t>
            </a:r>
            <a:endParaRPr b="0" i="0" sz="1000" u="none" cap="none" strike="noStrike"/>
          </a:p>
        </p:txBody>
      </p:sp>
      <p:sp>
        <p:nvSpPr>
          <p:cNvPr id="233" name="Google Shape;233;p29"/>
          <p:cNvSpPr/>
          <p:nvPr/>
        </p:nvSpPr>
        <p:spPr>
          <a:xfrm>
            <a:off x="463153" y="2552849"/>
            <a:ext cx="2035076" cy="217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View the Live Application</a:t>
            </a:r>
            <a:endParaRPr b="0" i="0" sz="1300" u="none" cap="none" strike="noStrike"/>
          </a:p>
        </p:txBody>
      </p:sp>
      <p:sp>
        <p:nvSpPr>
          <p:cNvPr id="234" name="Google Shape;234;p29"/>
          <p:cNvSpPr/>
          <p:nvPr/>
        </p:nvSpPr>
        <p:spPr>
          <a:xfrm>
            <a:off x="463153" y="2893442"/>
            <a:ext cx="5228481" cy="40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Access the working system at: </a:t>
            </a: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regulatory-knowledge-assistant-rka-q2q7paevuqr2lqvakz7hx9.streamlit.app</a:t>
            </a:r>
            <a:endParaRPr b="0" i="0" sz="1000" u="none" cap="none" strike="noStrike"/>
          </a:p>
        </p:txBody>
      </p:sp>
      <p:sp>
        <p:nvSpPr>
          <p:cNvPr id="235" name="Google Shape;235;p29"/>
          <p:cNvSpPr/>
          <p:nvPr/>
        </p:nvSpPr>
        <p:spPr>
          <a:xfrm>
            <a:off x="463153" y="3426247"/>
            <a:ext cx="1736973" cy="217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b="1" i="0" lang="en" sz="1300" u="none" cap="none" strike="noStrik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Explore the Codebase</a:t>
            </a:r>
            <a:endParaRPr b="0" i="0" sz="1300" u="none" cap="none" strike="noStrike"/>
          </a:p>
        </p:txBody>
      </p:sp>
      <p:sp>
        <p:nvSpPr>
          <p:cNvPr id="236" name="Google Shape;236;p29"/>
          <p:cNvSpPr/>
          <p:nvPr/>
        </p:nvSpPr>
        <p:spPr>
          <a:xfrm>
            <a:off x="463153" y="3766840"/>
            <a:ext cx="5228481" cy="409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Full source code and documentation available at: </a:t>
            </a: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github.com/Divyaanshvats/Regulatory-Knowledge-Assistant-RKA</a:t>
            </a:r>
            <a:endParaRPr b="0" i="0" sz="1000" u="none" cap="none" strike="noStrike"/>
          </a:p>
        </p:txBody>
      </p:sp>
      <p:pic>
        <p:nvPicPr>
          <p:cNvPr descr="preencoded.png" id="237" name="Google Shape;23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205" y="1122388"/>
            <a:ext cx="2666330" cy="355505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>
            <a:off x="8020450" y="4805275"/>
            <a:ext cx="1069200" cy="338100"/>
          </a:xfrm>
          <a:prstGeom prst="rect">
            <a:avLst/>
          </a:prstGeom>
          <a:solidFill>
            <a:srgbClr val="0E0727"/>
          </a:solidFill>
          <a:ln cap="flat" cmpd="sng" w="9525">
            <a:solidFill>
              <a:srgbClr val="0D07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